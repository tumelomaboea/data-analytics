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7745" y="2128520"/>
            <a:ext cx="10363200" cy="1695450"/>
          </a:xfrm>
        </p:spPr>
        <p:txBody>
          <a:bodyPr/>
          <a:p>
            <a:r>
              <a:rPr lang="en-US" altLang="en-GB"/>
              <a:t>Reducing Call Centre Operating Costs</a:t>
            </a:r>
            <a:br>
              <a:rPr lang="en-US" altLang="en-GB"/>
            </a:br>
            <a:endParaRPr lang="en-GB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GB" altLang="en-US"/>
          </a:p>
          <a:p>
            <a:r>
              <a:rPr lang="en-US" altLang="en-GB" sz="1400"/>
              <a:t>Operational Diagnostic &amp; Recommendations</a:t>
            </a:r>
            <a:endParaRPr lang="en-US" altLang="en-GB" sz="1400"/>
          </a:p>
        </p:txBody>
      </p:sp>
      <p:sp>
        <p:nvSpPr>
          <p:cNvPr id="4" name="Text Box 3"/>
          <p:cNvSpPr txBox="1"/>
          <p:nvPr/>
        </p:nvSpPr>
        <p:spPr>
          <a:xfrm>
            <a:off x="87630" y="57842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Prepared by </a:t>
            </a:r>
            <a:r>
              <a:rPr lang="en-GB" altLang="en-US" b="1"/>
              <a:t>Tumelo Kibi Maboea</a:t>
            </a:r>
            <a:endParaRPr lang="en-GB" altLang="en-US" b="1"/>
          </a:p>
        </p:txBody>
      </p:sp>
      <p:sp>
        <p:nvSpPr>
          <p:cNvPr id="7" name="Text Box 6"/>
          <p:cNvSpPr txBox="1"/>
          <p:nvPr/>
        </p:nvSpPr>
        <p:spPr>
          <a:xfrm>
            <a:off x="87630" y="6356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23/02/2026</a:t>
            </a:r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Business Context &amp; Objective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04085"/>
            <a:ext cx="11167745" cy="3869055"/>
          </a:xfrm>
        </p:spPr>
        <p:txBody>
          <a:bodyPr/>
          <a:p>
            <a:r>
              <a:rPr lang="en-US" altLang="en-GB" sz="2800">
                <a:latin typeface="Calibri" panose="020F0502020204030204" charset="0"/>
                <a:cs typeface="Calibri" panose="020F0502020204030204" charset="0"/>
              </a:rPr>
              <a:t>ConnectTel observed rising call centre operating costs and commissioned a diagnostic to understand the underlying drivers.</a:t>
            </a:r>
            <a:endParaRPr lang="en-US" altLang="en-GB" sz="28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GB" sz="2800">
                <a:latin typeface="Calibri" panose="020F0502020204030204" charset="0"/>
                <a:cs typeface="Calibri" panose="020F0502020204030204" charset="0"/>
              </a:rPr>
              <a:t>The goal </a:t>
            </a:r>
            <a:r>
              <a:rPr lang="en-GB" altLang="en-US" sz="2800">
                <a:latin typeface="Calibri" panose="020F0502020204030204" charset="0"/>
                <a:cs typeface="Calibri" panose="020F0502020204030204" charset="0"/>
              </a:rPr>
              <a:t>is</a:t>
            </a:r>
            <a:r>
              <a:rPr lang="en-US" altLang="en-GB" sz="2800">
                <a:latin typeface="Calibri" panose="020F0502020204030204" charset="0"/>
                <a:cs typeface="Calibri" panose="020F0502020204030204" charset="0"/>
              </a:rPr>
              <a:t> to identify operational inefficiencies in call handling and workforce management, and to uncover opportunities to reduce costs without negatively impacting customer experience.</a:t>
            </a:r>
            <a:endParaRPr lang="en-US" altLang="en-GB" sz="28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789940"/>
          </a:xfrm>
        </p:spPr>
        <p:txBody>
          <a:bodyPr/>
          <a:p>
            <a:r>
              <a:rPr lang="en-US" altLang="en-GB"/>
              <a:t>Our Approach</a:t>
            </a:r>
            <a:r>
              <a:rPr lang="en-GB" altLang="en-US"/>
              <a:t> 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07135"/>
            <a:ext cx="11186160" cy="5434965"/>
          </a:xfrm>
        </p:spPr>
        <p:txBody>
          <a:bodyPr/>
          <a:p>
            <a:pPr marL="0" indent="0">
              <a:buNone/>
            </a:pP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Key Operational Factors Considered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Before analysing the data, we identified the factors most likely to be driving inefficiencies and elevated costs.This hypothesis-driven approach focused the analysis on validating key cost drivers.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4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Long Call Duration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Longer call times increase labour costs and reduce call-handling capacity.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16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Low First-Call Resolution &amp; High Escalations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Unresolved issues create repeat work and escalate resource usage.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GB" sz="18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Workforce Experience &amp; Overtime Usage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Experience gaps may reduce efficiency, while overtime raises staffing costs without proportional productivity gains.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Key Questions Guiding the Analysis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sz="2400" b="1"/>
              <a:t>To test the identified cost drivers, we translated our hypotheses into the following business questions:</a:t>
            </a:r>
            <a:endParaRPr lang="en-US" altLang="en-GB" sz="2000"/>
          </a:p>
          <a:p>
            <a:r>
              <a:rPr lang="en-US" altLang="en-GB" sz="2000"/>
              <a:t>Does longer call duration lead to a higher cost per call?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/>
              <a:t>Are unresolved issues driving escalations and repeat handling?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/>
              <a:t>Do performance differences exist across teams, shifts, or experience levels?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/>
              <a:t>Is overtime contributing disproportionately to operating costs?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/>
              <a:t>Are more experienced agents handling calls more efficiently than less-experienced agents?</a:t>
            </a:r>
            <a:endParaRPr lang="en-US" altLang="en-GB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How We Used the Data</a:t>
            </a:r>
            <a:endParaRPr lang="en-US" altLang="en-GB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609600" y="1600200"/>
          <a:ext cx="10972800" cy="4022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762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>
                          <a:solidFill>
                            <a:schemeClr val="tx1"/>
                          </a:solidFill>
                        </a:rPr>
                        <a:t>ANALYTIC FOCUS </a:t>
                      </a:r>
                      <a:endParaRPr lang="en-GB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b="1">
                          <a:solidFill>
                            <a:schemeClr val="tx1"/>
                          </a:solidFill>
                        </a:rPr>
                        <a:t>METRICS </a:t>
                      </a:r>
                      <a:endParaRPr lang="en-GB" altLang="en-US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407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Efficiency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AvgCallDuration, CallsHandled</a:t>
                      </a:r>
                      <a:endParaRPr lang="en-US" altLang="en-GB"/>
                    </a:p>
                  </a:txBody>
                  <a:tcPr/>
                </a:tc>
              </a:tr>
              <a:tr h="6762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Quality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FCRrate, EscalationRate</a:t>
                      </a:r>
                      <a:endParaRPr lang="en-US" altLang="en-GB"/>
                    </a:p>
                  </a:txBody>
                  <a:tcPr/>
                </a:tc>
              </a:tr>
              <a:tr h="6762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Workforce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Experience, OvertimeHours</a:t>
                      </a:r>
                      <a:endParaRPr lang="en-US" altLang="en-GB"/>
                    </a:p>
                  </a:txBody>
                  <a:tcPr/>
                </a:tc>
              </a:tr>
              <a:tr h="6762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Operations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Team, Shift</a:t>
                      </a:r>
                      <a:endParaRPr lang="en-US" altLang="en-GB"/>
                    </a:p>
                  </a:txBody>
                  <a:tcPr/>
                </a:tc>
              </a:tr>
              <a:tr h="6762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Cost Impact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CostPerCall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Key Insights from the Analysis</a:t>
            </a:r>
            <a:endParaRPr lang="en-US" altLang="en-GB"/>
          </a:p>
        </p:txBody>
      </p:sp>
      <p:pic>
        <p:nvPicPr>
          <p:cNvPr id="5" name="Content Placeholder 4" descr="Screenshot (1548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78205" y="1417955"/>
            <a:ext cx="9209405" cy="5006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4000">
                <a:cs typeface="+mj-lt"/>
                <a:sym typeface="+mn-ea"/>
              </a:rPr>
              <a:t> </a:t>
            </a:r>
            <a:endParaRPr lang="en-GB" altLang="en-US" sz="4000"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>
              <a:buAutoNum type="arabicPeriod"/>
            </a:pP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Shift vs. CostPerCall.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The Evening shift has the highest cost per call, indicating lower efficiency compared to other shifts.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Insight</a:t>
            </a:r>
            <a:r>
              <a:rPr lang="en-GB" altLang="en-US" sz="2400" b="1">
                <a:latin typeface="Calibri" panose="020F0502020204030204" charset="0"/>
                <a:cs typeface="Calibri" panose="020F0502020204030204" charset="0"/>
              </a:rPr>
              <a:t>: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Cost differences across shifts indicate variations in workforce capability, support, or call handling practices.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GB" altLang="en-US" sz="2400" b="1">
                <a:latin typeface="Calibri" panose="020F0502020204030204" charset="0"/>
                <a:cs typeface="Calibri" panose="020F0502020204030204" charset="0"/>
              </a:rPr>
              <a:t>2.   </a:t>
            </a: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Team vs. CostPerCall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Team B has the highest cost per call, followed by Team A, while Team C has the lowest.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Insight: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Inefficiencies are concentrated in specific teams rather than across the whole operation.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 altLang="en-GB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GB" altLang="en-US" sz="2400" b="1">
                <a:latin typeface="Calibri" panose="020F0502020204030204" charset="0"/>
                <a:cs typeface="Calibri" panose="020F0502020204030204" charset="0"/>
              </a:rPr>
              <a:t>3.  </a:t>
            </a: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OvertimeHours vs. CostPerCall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Agents with more overtime tend to have higher costs per call</a:t>
            </a: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Insight: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Overtime may be increasing costs due to inefficiencies rather than demand.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GB" altLang="en-US" sz="2400" b="1">
                <a:latin typeface="Calibri" panose="020F0502020204030204" charset="0"/>
                <a:cs typeface="Calibri" panose="020F0502020204030204" charset="0"/>
              </a:rPr>
              <a:t>4.  </a:t>
            </a: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Experience vs. EscalationRate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Newer agents have the highest escalations, while more experienced agents have fewer.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GB" altLang="en-US" sz="2400" b="1">
                <a:latin typeface="Calibri" panose="020F0502020204030204" charset="0"/>
                <a:cs typeface="Calibri" panose="020F0502020204030204" charset="0"/>
              </a:rPr>
              <a:t>Insight:</a:t>
            </a:r>
            <a:endParaRPr lang="en-GB" altLang="en-US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Experience improves issue resolution and reduces the need for escalations.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2838450"/>
          </a:xfrm>
        </p:spPr>
        <p:txBody>
          <a:bodyPr/>
          <a:p>
            <a:pPr marL="0" indent="0">
              <a:buNone/>
            </a:pPr>
            <a:r>
              <a:rPr lang="en-GB" altLang="en-US" sz="2400" b="1">
                <a:latin typeface="Calibri" panose="020F0502020204030204" charset="0"/>
                <a:cs typeface="Calibri" panose="020F0502020204030204" charset="0"/>
              </a:rPr>
              <a:t>5.   </a:t>
            </a: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Experience vs CostPerCall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Costs are similar across all experience groups.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Insight: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Experience is not a key driver of cost differences.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H</a:t>
            </a:r>
            <a:r>
              <a:rPr lang="en-US" altLang="en-GB"/>
              <a:t>igh-level, actionable ideas to improve cost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>
              <a:buAutoNum type="arabicPeriod"/>
            </a:pP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Standardise Call Handling Across Teams and Shifts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GB" altLang="en-US" sz="2000">
                <a:latin typeface="Calibri" panose="020F0502020204030204" charset="0"/>
                <a:cs typeface="Calibri" panose="020F0502020204030204" charset="0"/>
              </a:rPr>
              <a:t>       </a:t>
            </a: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Align processes and share best practices to reduce performance differences.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GB" altLang="en-US" sz="2000" b="1">
                <a:latin typeface="Calibri" panose="020F0502020204030204" charset="0"/>
                <a:cs typeface="Calibri" panose="020F0502020204030204" charset="0"/>
              </a:rPr>
              <a:t>       </a:t>
            </a:r>
            <a:r>
              <a:rPr lang="en-US" altLang="en-GB" sz="2000" b="1">
                <a:latin typeface="Calibri" panose="020F0502020204030204" charset="0"/>
                <a:cs typeface="Calibri" panose="020F0502020204030204" charset="0"/>
              </a:rPr>
              <a:t>Benefit</a:t>
            </a: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: Improves efficiency and lowers cost per call.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GB" altLang="en-US" sz="2400" b="1">
                <a:latin typeface="Calibri" panose="020F0502020204030204" charset="0"/>
                <a:cs typeface="Calibri" panose="020F0502020204030204" charset="0"/>
              </a:rPr>
              <a:t>2.     </a:t>
            </a: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Reduce Reliance on Overtime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GB" altLang="en-US" sz="2000">
                <a:latin typeface="Calibri" panose="020F0502020204030204" charset="0"/>
                <a:cs typeface="Calibri" panose="020F0502020204030204" charset="0"/>
              </a:rPr>
              <a:t>     </a:t>
            </a: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Monitor overtime and address productivity gaps through coaching and better workload management.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GB" altLang="en-US" sz="2000" b="1">
                <a:latin typeface="Calibri" panose="020F0502020204030204" charset="0"/>
                <a:cs typeface="Calibri" panose="020F0502020204030204" charset="0"/>
              </a:rPr>
              <a:t>      </a:t>
            </a:r>
            <a:r>
              <a:rPr lang="en-US" altLang="en-GB" sz="2000" b="1">
                <a:latin typeface="Calibri" panose="020F0502020204030204" charset="0"/>
                <a:cs typeface="Calibri" panose="020F0502020204030204" charset="0"/>
              </a:rPr>
              <a:t>Benefit:</a:t>
            </a: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 Cuts avoidable labour costs.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Strengthen Support for New Agents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Enhance onboarding and guidance to reduce escalations.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GB" sz="2000" b="1">
                <a:latin typeface="Calibri" panose="020F0502020204030204" charset="0"/>
                <a:cs typeface="Calibri" panose="020F0502020204030204" charset="0"/>
              </a:rPr>
              <a:t>Benefit:</a:t>
            </a:r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 Faster issue resolution and improved service quality.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Data Analysed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z="2400">
                <a:latin typeface="Calibri" panose="020F0502020204030204" charset="0"/>
                <a:cs typeface="Calibri" panose="020F0502020204030204" charset="0"/>
              </a:rPr>
              <a:t>AvgCallDuration </a:t>
            </a: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→</a:t>
            </a:r>
            <a:r>
              <a:rPr lang="en-US" altLang="en-GB" sz="2400">
                <a:latin typeface="Calibri" panose="020F0502020204030204" charset="0"/>
                <a:cs typeface="Calibri" panose="020F0502020204030204" charset="0"/>
              </a:rPr>
              <a:t> efficiency</a:t>
            </a:r>
            <a:endParaRPr lang="en-US" altLang="en-GB" sz="24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GB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GB" sz="2400">
                <a:latin typeface="Calibri" panose="020F0502020204030204" charset="0"/>
                <a:cs typeface="Calibri" panose="020F0502020204030204" charset="0"/>
              </a:rPr>
              <a:t>CostPerCall </a:t>
            </a: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→</a:t>
            </a:r>
            <a:r>
              <a:rPr lang="en-US" altLang="en-GB" sz="2400">
                <a:latin typeface="Calibri" panose="020F0502020204030204" charset="0"/>
                <a:cs typeface="Calibri" panose="020F0502020204030204" charset="0"/>
              </a:rPr>
              <a:t> cost impact</a:t>
            </a:r>
            <a:endParaRPr lang="en-US" altLang="en-GB" sz="24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GB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GB" sz="2400">
                <a:latin typeface="Calibri" panose="020F0502020204030204" charset="0"/>
                <a:cs typeface="Calibri" panose="020F0502020204030204" charset="0"/>
              </a:rPr>
              <a:t>EscalationRate </a:t>
            </a: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→</a:t>
            </a:r>
            <a:r>
              <a:rPr lang="en-US" altLang="en-GB" sz="2400">
                <a:latin typeface="Calibri" panose="020F0502020204030204" charset="0"/>
                <a:cs typeface="Calibri" panose="020F0502020204030204" charset="0"/>
              </a:rPr>
              <a:t> quality</a:t>
            </a:r>
            <a:endParaRPr lang="en-US" altLang="en-GB" sz="24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GB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GB" sz="2400">
                <a:latin typeface="Calibri" panose="020F0502020204030204" charset="0"/>
                <a:cs typeface="Calibri" panose="020F0502020204030204" charset="0"/>
              </a:rPr>
              <a:t>OvertimeHours </a:t>
            </a: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→</a:t>
            </a:r>
            <a:r>
              <a:rPr lang="en-US" altLang="en-GB" sz="2400">
                <a:latin typeface="Calibri" panose="020F0502020204030204" charset="0"/>
                <a:cs typeface="Calibri" panose="020F0502020204030204" charset="0"/>
              </a:rPr>
              <a:t> workforce utilisation</a:t>
            </a:r>
            <a:endParaRPr lang="en-US" altLang="en-GB" sz="24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GB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GB" sz="2400">
                <a:latin typeface="Calibri" panose="020F0502020204030204" charset="0"/>
                <a:cs typeface="Calibri" panose="020F0502020204030204" charset="0"/>
              </a:rPr>
              <a:t>Team / Shift / Experience </a:t>
            </a:r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→</a:t>
            </a:r>
            <a:r>
              <a:rPr lang="en-US" altLang="en-GB" sz="2400">
                <a:latin typeface="Calibri" panose="020F0502020204030204" charset="0"/>
                <a:cs typeface="Calibri" panose="020F0502020204030204" charset="0"/>
              </a:rPr>
              <a:t> performance comparison</a:t>
            </a:r>
            <a:endParaRPr lang="en-US" altLang="en-GB" sz="24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54330"/>
            <a:ext cx="10972800" cy="1099185"/>
          </a:xfrm>
        </p:spPr>
        <p:txBody>
          <a:bodyPr/>
          <a:p>
            <a:r>
              <a:rPr lang="en-US" altLang="en-GB" sz="3200"/>
              <a:t>Risks </a:t>
            </a:r>
            <a:r>
              <a:rPr lang="en-GB" altLang="en-US" sz="3200"/>
              <a:t>&amp; A</a:t>
            </a:r>
            <a:r>
              <a:rPr lang="en-US" altLang="en-GB" sz="3200"/>
              <a:t>ssumptions </a:t>
            </a:r>
            <a:br>
              <a:rPr lang="en-US" altLang="en-GB"/>
            </a:b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97450"/>
          </a:xfrm>
        </p:spPr>
        <p:txBody>
          <a:bodyPr/>
          <a:p>
            <a:pPr marL="0" indent="0">
              <a:buNone/>
            </a:pP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Assumptions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Cost differences are mainly driven by internal processes and workforce performance.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Current staffing levels are adequate if efficiency improves.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GB" sz="2000"/>
          </a:p>
          <a:p>
            <a:pPr marL="0" indent="0">
              <a:buNone/>
            </a:pPr>
            <a:r>
              <a:rPr lang="en-US" altLang="en-GB" sz="2400" b="1">
                <a:latin typeface="Calibri" panose="020F0502020204030204" charset="0"/>
                <a:cs typeface="Calibri" panose="020F0502020204030204" charset="0"/>
              </a:rPr>
              <a:t>Risks</a:t>
            </a:r>
            <a:endParaRPr lang="en-US" altLang="en-GB" sz="2400" b="1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GB" sz="2000"/>
          </a:p>
          <a:p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Resistance to process changes may slow implementation.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Reducing overtime too quickly could affect service levels.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GB" sz="2000">
                <a:latin typeface="Calibri" panose="020F0502020204030204" charset="0"/>
                <a:cs typeface="Calibri" panose="020F0502020204030204" charset="0"/>
              </a:rPr>
              <a:t>Training improvements may take time to deliver results.</a:t>
            </a:r>
            <a:endParaRPr lang="en-US" altLang="en-GB" sz="20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2059305"/>
          </a:xfrm>
        </p:spPr>
        <p:txBody>
          <a:bodyPr/>
          <a:p>
            <a:pPr algn="ctr"/>
            <a:r>
              <a:rPr lang="en-GB" altLang="en-US"/>
              <a:t>Thank you </a:t>
            </a:r>
            <a:endParaRPr lang="en-GB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64*266"/>
  <p:tag name="TABLE_ENDDRAG_RECT" val="48*126*864*266"/>
</p:tagLst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3818</Words>
  <Application>WPS Presentation</Application>
  <PresentationFormat>Widescreen</PresentationFormat>
  <Paragraphs>155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Microsoft YaHei</vt:lpstr>
      <vt:lpstr>Arial Unicode MS</vt:lpstr>
      <vt:lpstr>Bahnschrift Light SemiCondensed</vt:lpstr>
      <vt:lpstr>Baskerville Old Face</vt:lpstr>
      <vt:lpstr>Bernard MT Condensed</vt:lpstr>
      <vt:lpstr>Bodoni MT Condensed</vt:lpstr>
      <vt:lpstr>Broadway</vt:lpstr>
      <vt:lpstr>Brush Script MT</vt:lpstr>
      <vt:lpstr>Business Cooperate</vt:lpstr>
      <vt:lpstr>Reducing Call Centre Operating Costs </vt:lpstr>
      <vt:lpstr>Business Context &amp; Objective</vt:lpstr>
      <vt:lpstr>Our Approach </vt:lpstr>
      <vt:lpstr>Key Questions Guiding the Analysis</vt:lpstr>
      <vt:lpstr>How We Used the Data</vt:lpstr>
      <vt:lpstr>Key Insights from the Analysis</vt:lpstr>
      <vt:lpstr>Key Insights from the Analysis</vt:lpstr>
      <vt:lpstr>Key Insights from the Analysis</vt:lpstr>
      <vt:lpstr>Key Insights from the Analysis</vt:lpstr>
      <vt:lpstr>High-level, actionable ideas to improve cost</vt:lpstr>
      <vt:lpstr>Data Analysed</vt:lpstr>
      <vt:lpstr>Risks &amp; Assumptions 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SK</dc:creator>
  <cp:lastModifiedBy>SK</cp:lastModifiedBy>
  <cp:revision>6</cp:revision>
  <dcterms:created xsi:type="dcterms:W3CDTF">2025-07-23T00:59:00Z</dcterms:created>
  <dcterms:modified xsi:type="dcterms:W3CDTF">2026-02-23T08:11:06Z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6D835655575D422A8BB9AF89DA881EA1_13</vt:lpwstr>
  </property>
  <property fmtid="{D5CDD505-2E9C-101B-9397-08002B2CF9AE}" pid="3" name="KSOProductBuildVer">
    <vt:lpwstr>2057-12.2.0.23196</vt:lpwstr>
  </property>
</Properties>
</file>